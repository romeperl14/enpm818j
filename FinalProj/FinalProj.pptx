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2" r:id="rId4"/>
    <p:sldId id="261" r:id="rId5"/>
    <p:sldId id="265" r:id="rId6"/>
    <p:sldId id="263" r:id="rId7"/>
    <p:sldId id="264" r:id="rId8"/>
    <p:sldId id="266" r:id="rId9"/>
    <p:sldId id="267" r:id="rId10"/>
    <p:sldId id="257" r:id="rId11"/>
    <p:sldId id="268" r:id="rId12"/>
    <p:sldId id="259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3" d="100"/>
          <a:sy n="73" d="100"/>
        </p:scale>
        <p:origin x="115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872B59-A535-49D4-ADCC-D5DD6C8FFC1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2759EE-1FCC-457B-97B3-9205F2DBBD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106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759EE-1FCC-457B-97B3-9205F2DBBD4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3367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C606-4915-12A6-2F3E-1F84B4FAB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C224D-A38B-F9AD-0102-2A982F739F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29BE2E-8DBA-7B24-D705-7E398BF16E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81D07-5C14-99C2-1BB7-69BBD175D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2759EE-1FCC-457B-97B3-9205F2DBBD4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95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09FA-B8FA-94E6-34F1-489540F41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E4EB95-E985-4625-5C72-789E94E0B1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E35100-7DE9-B63C-9002-DCFE5DFB1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000C4-1D37-3173-930D-DA3B24892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21CBA-F666-E8DC-14E1-78F76E67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912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208C8-B73C-55F5-275F-E6F5EBE5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F9A709-936F-16F8-5674-33E195B30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E38A91-D0C7-7FC0-1347-499B3039B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4C2DC9-A2A7-8320-C550-68E38B53A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8DBF87-A8D2-9CDE-6A20-57201F319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835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9E2ED-B0B4-18C5-DEBA-72E03DC5E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B87EF-C1E7-75D7-0481-81627146E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8AE06-73F2-34B5-F27D-CE31B2A02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457C18-E62A-51A3-AE9D-CA517B87E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8EDBA-3450-C8B2-6963-06854C43F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974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F33AD-C43A-A757-1F3B-9727DA27A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DEC818-861F-B39F-3D53-31D77F20FD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7D5A09-A669-23A2-98FF-1C0851E35C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0DAAD-58A4-F53E-E9CE-416E5461C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7D3C0-5A80-7315-A443-95137C162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F2790-4C17-5AE1-E35C-EB046DC3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174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03782-043C-868E-6CC6-A95CB91C3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264175-78D4-493A-1DB8-99BB86AD3F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39A95-36FC-8CE1-ED6D-66AA0E358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B79E54-2C5C-254A-61A8-F577237B2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BC5B16-43E8-D400-2BE7-71C298B2B8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ED1206-A3A0-472E-ADC8-C1C245A03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4FE441-2190-3894-8613-AF9EF6A19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5ADFB4-90B6-9C7E-60FC-8DC0B7EA7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44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5D293-132D-B63E-050F-FAC01E63C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C678B3-C8F7-9057-B762-A7FD4D589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A1680C-2BE7-68D9-7E45-463A9ADFD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CCD2C3-2898-6FF5-D422-E0C372618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455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F583-7141-01D7-A378-2832B7AD7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82D985-301B-7AA8-B3EE-E036791C1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E61F8-4200-BEA4-7AFC-67AAB0DC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153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8B6F3-7A24-1783-C0E7-FA859520F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F8D276-05C9-BD41-429E-8D64EE8DB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84ECEA-0580-53DB-FA21-2257FCA3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29C090-D9A6-F24F-65DA-E8D3D17C3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2AB16C-09B4-C0E7-B204-EDFA4717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602700-3C30-AB7F-A6DB-A229EECE0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014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7E702-E851-DF8E-4194-B54F159DFC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90ACC7-2F96-ACAF-6799-8FFEA7CADA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B6D5B0-D5BC-E4BE-E5FA-46D3A239EA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458C7-6BE8-C7AE-5DD2-027C055B5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BEBA5F-876D-82C8-CB5A-F70A4DEB8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3FCA99-76B4-645D-0C72-10AFB31A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7F8D8-1144-157C-7659-43BACDEA6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43C85A-1F22-1436-C553-8DC87AE1B1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7EA358-3957-B886-96A7-14910AF13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B391B-B2FB-C309-2E78-9ED6D3C97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9BDAF4-161B-A442-5CE9-02093708D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01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9A03BB-498B-C8B8-E33A-CE7BC369FF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782623-4765-77E3-7406-84826E1D4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A18EE1-18AA-7A09-1EDC-09DDA2CC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F5801-38C0-BEEA-B9D9-1F6F3DD8F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A47ED-2F8B-3982-8FA6-AC24C53F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26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1DCE5-693A-0F19-9C3A-A917BBA99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E25568-0035-3B1E-0BF1-55DAB05BF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A05309-87D3-F59E-6E96-0D816066E3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D161E5-5842-431F-BF15-93C1CF6FA822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301E35-05CB-021C-2592-DA5277E7DB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D461-2382-414F-7323-F10F0BE5F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4FCB64-537E-47B6-A431-39DE290689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112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7ADD9-2CAD-BA83-FBD9-5FBC7785C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Real-Time Position and Velocity Control of a Brushless DC Motor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15894D-4BF9-F108-7AC5-0A08971679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Romeo Perlstein</a:t>
            </a:r>
          </a:p>
          <a:p>
            <a:r>
              <a:rPr lang="en-US" dirty="0"/>
              <a:t>ENPM818J Final Project</a:t>
            </a:r>
          </a:p>
        </p:txBody>
      </p:sp>
    </p:spTree>
    <p:extLst>
      <p:ext uri="{BB962C8B-B14F-4D97-AF65-F5344CB8AC3E}">
        <p14:creationId xmlns:p14="http://schemas.microsoft.com/office/powerpoint/2010/main" val="2930359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35C59-9E26-5798-686F-90F8C6EFF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30843-345A-895D-6C79-9FE5F8021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Romeo Perlstein:</a:t>
            </a:r>
          </a:p>
          <a:p>
            <a:r>
              <a:rPr lang="en-US" dirty="0"/>
              <a:t>Aerospace Engineering Masters Student</a:t>
            </a:r>
          </a:p>
          <a:p>
            <a:r>
              <a:rPr lang="en-US" dirty="0"/>
              <a:t>Likes space robots, human spaceflight, and human/robot collaboration in space</a:t>
            </a:r>
          </a:p>
        </p:txBody>
      </p:sp>
    </p:spTree>
    <p:extLst>
      <p:ext uri="{BB962C8B-B14F-4D97-AF65-F5344CB8AC3E}">
        <p14:creationId xmlns:p14="http://schemas.microsoft.com/office/powerpoint/2010/main" val="1945953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12EC0-0C61-2A3B-8E0F-4A4A2BF1B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4C6C7-B24E-B63D-1400-5E56D3FD6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CDCBE-B780-0CEC-8C9D-3220EB3C4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u="sng" dirty="0"/>
              <a:t>Mission Statement:</a:t>
            </a:r>
          </a:p>
          <a:p>
            <a:pPr marL="0" indent="0">
              <a:buNone/>
            </a:pPr>
            <a:r>
              <a:rPr lang="en-US" dirty="0"/>
              <a:t>Control the position of a hobby-grade brushless DC motor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74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7DF9-AED3-B923-CEE4-F9E10B407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77D2-222C-524D-E1C6-D8AF78980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u="sng" dirty="0"/>
              <a:t>Mission Level Requirements:</a:t>
            </a:r>
          </a:p>
          <a:p>
            <a:pPr marL="514350" indent="-514350">
              <a:buAutoNum type="arabicPeriod"/>
            </a:pPr>
            <a:r>
              <a:rPr lang="en-US" dirty="0"/>
              <a:t>Fast control loop to implement basic PD controller</a:t>
            </a:r>
          </a:p>
          <a:p>
            <a:pPr marL="514350" indent="-514350">
              <a:buAutoNum type="arabicPeriod"/>
            </a:pPr>
            <a:r>
              <a:rPr lang="en-US" dirty="0"/>
              <a:t>Position encoder to track live position of motor</a:t>
            </a:r>
          </a:p>
          <a:p>
            <a:pPr marL="514350" indent="-514350">
              <a:buAutoNum type="arabicPeriod"/>
            </a:pPr>
            <a:r>
              <a:rPr lang="en-US" dirty="0"/>
              <a:t>Brushless DC motor</a:t>
            </a:r>
          </a:p>
          <a:p>
            <a:pPr marL="514350" indent="-514350">
              <a:buAutoNum type="arabicPeriod"/>
            </a:pPr>
            <a:r>
              <a:rPr lang="en-US" dirty="0"/>
              <a:t>Brushless DC motor driver</a:t>
            </a:r>
          </a:p>
        </p:txBody>
      </p:sp>
    </p:spTree>
    <p:extLst>
      <p:ext uri="{BB962C8B-B14F-4D97-AF65-F5344CB8AC3E}">
        <p14:creationId xmlns:p14="http://schemas.microsoft.com/office/powerpoint/2010/main" val="1209623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AB8B7-D19D-84C9-4884-6663B82AA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BAFA3-23C5-8B6C-C67D-F66833A66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72163-C52C-DC3F-47DF-28B9E52DA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Mission Level Requirements Reasonings:</a:t>
            </a:r>
          </a:p>
          <a:p>
            <a:pPr marL="514350" indent="-514350">
              <a:buAutoNum type="arabicPeriod"/>
            </a:pPr>
            <a:r>
              <a:rPr lang="en-US" dirty="0"/>
              <a:t>PD controller needs to run at a relatively fast rate for good tracking</a:t>
            </a:r>
          </a:p>
          <a:p>
            <a:pPr marL="514350" indent="-514350">
              <a:buAutoNum type="arabicPeriod"/>
            </a:pPr>
            <a:r>
              <a:rPr lang="en-US" dirty="0"/>
              <a:t>Need positional sensor readings in order to command position using PD controller</a:t>
            </a:r>
          </a:p>
          <a:p>
            <a:pPr marL="514350" indent="-514350">
              <a:buAutoNum type="arabicPeriod"/>
            </a:pPr>
            <a:r>
              <a:rPr lang="en-US" dirty="0"/>
              <a:t>Need physical actuator to drive system, brushless DC motors are relatively challenging to work with compared to brushed DC motors and enable a more challenging project</a:t>
            </a:r>
          </a:p>
          <a:p>
            <a:pPr marL="514350" indent="-514350">
              <a:buAutoNum type="arabicPeriod"/>
            </a:pPr>
            <a:r>
              <a:rPr lang="en-US" dirty="0"/>
              <a:t>Need a drive to convert command signals to phase current cycles (developing a custom one deemed out-of-scope)</a:t>
            </a:r>
          </a:p>
        </p:txBody>
      </p:sp>
    </p:spTree>
    <p:extLst>
      <p:ext uri="{BB962C8B-B14F-4D97-AF65-F5344CB8AC3E}">
        <p14:creationId xmlns:p14="http://schemas.microsoft.com/office/powerpoint/2010/main" val="15058339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A7CDA-3C34-56C1-1215-6E470E91A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34F06-3C72-0DD2-71D7-DC2044957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Cont’d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460C4-99F3-2A37-BB65-BF45D19A79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u="sng" dirty="0"/>
              <a:t>System Level Requirements: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Control loop that can run on the order of ~1kHz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Ability to read encoder pulses at frequency of ~10kHz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Ability to generate pulse-width-modulated (PWM) signal at frequency of roughly ~20kHz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Ability to send digital outputs at a fast rate (~1kHz)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Control input circuit (</a:t>
            </a:r>
            <a:r>
              <a:rPr lang="en-US" dirty="0" err="1"/>
              <a:t>a.k.a</a:t>
            </a:r>
            <a:r>
              <a:rPr lang="en-US" dirty="0"/>
              <a:t> potentiometer) for position commands</a:t>
            </a:r>
          </a:p>
        </p:txBody>
      </p:sp>
    </p:spTree>
    <p:extLst>
      <p:ext uri="{BB962C8B-B14F-4D97-AF65-F5344CB8AC3E}">
        <p14:creationId xmlns:p14="http://schemas.microsoft.com/office/powerpoint/2010/main" val="47073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EA3B6-645D-BDD2-EE23-E30FA1B81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ECEC6-3945-979A-C88F-A8377BD3E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 Cont’d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C3764-401B-3431-20A3-C3FA42783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u="sng" dirty="0"/>
              <a:t>System Level Requirements Reasoning: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Position PID control of motors needs to run at frequencies on the order of kHz or faster for stable and smooth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High-resolution encoders generate pulses faster than typical while loops or interrupt service routines can handle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High frequency PWM signals enable smooth motor motion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Digital output for direction has to change at the same rate of the control loop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User input to demonstrate motor control</a:t>
            </a:r>
          </a:p>
        </p:txBody>
      </p:sp>
    </p:spTree>
    <p:extLst>
      <p:ext uri="{BB962C8B-B14F-4D97-AF65-F5344CB8AC3E}">
        <p14:creationId xmlns:p14="http://schemas.microsoft.com/office/powerpoint/2010/main" val="2495590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09E44-CEEF-9FCB-25E3-41966D216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4AEA1-277B-4AC1-4C0E-E9198E57B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73C692-B5D0-07D2-88A6-666C7BC37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335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9B53D-19DC-B5CC-9F36-0E51BC98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7E17D-50DF-ACAF-31A8-C0B300C91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System (labeled)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6251D1-9EE4-2158-8E50-C3DB2FA4E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868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5C4F5-8582-133D-4862-EA39B80AD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E2960-59CD-DF9C-733E-C6EF63E86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539480" cy="4351338"/>
          </a:xfrm>
        </p:spPr>
        <p:txBody>
          <a:bodyPr/>
          <a:lstStyle/>
          <a:p>
            <a:r>
              <a:rPr lang="en-US" dirty="0" err="1"/>
              <a:t>RioRand</a:t>
            </a:r>
            <a:r>
              <a:rPr lang="en-US" dirty="0"/>
              <a:t> 3-Phase Brushless DC motor driver with PWM input</a:t>
            </a:r>
          </a:p>
          <a:p>
            <a:r>
              <a:rPr lang="en-US" dirty="0"/>
              <a:t>Hoverboard motor </a:t>
            </a:r>
          </a:p>
          <a:p>
            <a:r>
              <a:rPr lang="en-US" dirty="0"/>
              <a:t>1515 80/20 extrusion</a:t>
            </a:r>
          </a:p>
          <a:p>
            <a:endParaRPr lang="en-US" dirty="0"/>
          </a:p>
          <a:p>
            <a:r>
              <a:rPr lang="en-US" dirty="0"/>
              <a:t>ESP32 WROOM</a:t>
            </a:r>
          </a:p>
          <a:p>
            <a:r>
              <a:rPr lang="en-US" dirty="0"/>
              <a:t>Quadrature Encoder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2D71F3-277B-21FB-06B6-199E55010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67" y="1249680"/>
            <a:ext cx="2594651" cy="2250440"/>
          </a:xfrm>
          <a:prstGeom prst="rect">
            <a:avLst/>
          </a:prstGeom>
        </p:spPr>
      </p:pic>
      <p:pic>
        <p:nvPicPr>
          <p:cNvPr id="5" name="Picture 4" descr="Amazon.com: 6.5 Inch Self Balancing Scooter Motor Wheel with Tire Self  Balance Unicycle Hover Board Motor Replacement : Sports &amp; Outdoors">
            <a:extLst>
              <a:ext uri="{FF2B5EF4-FFF2-40B4-BE49-F238E27FC236}">
                <a16:creationId xmlns:a16="http://schemas.microsoft.com/office/drawing/2014/main" id="{7E5BA32F-2F11-FFF6-F223-AFB8D08C9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2027" y="2291008"/>
            <a:ext cx="2027846" cy="1710286"/>
          </a:xfrm>
          <a:prstGeom prst="rect">
            <a:avLst/>
          </a:prstGeom>
        </p:spPr>
      </p:pic>
      <p:pic>
        <p:nvPicPr>
          <p:cNvPr id="6" name="Picture 5" descr="1515-S | 1.50” X 1.50” Smooth Surface T-Slotted Profile - Four Open T-Slots">
            <a:extLst>
              <a:ext uri="{FF2B5EF4-FFF2-40B4-BE49-F238E27FC236}">
                <a16:creationId xmlns:a16="http://schemas.microsoft.com/office/drawing/2014/main" id="{62400967-540C-7EC8-073E-56029B3B5D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1745" y="2815242"/>
            <a:ext cx="1743941" cy="1743941"/>
          </a:xfrm>
          <a:prstGeom prst="rect">
            <a:avLst/>
          </a:prstGeom>
        </p:spPr>
      </p:pic>
      <p:pic>
        <p:nvPicPr>
          <p:cNvPr id="9" name="Picture 8" descr="Amazon.com: ESP32 Type-C Module ESP32 30PIN NodeMCU Development Board ESP32- WROOM-32 2.4 GHz WLAN CP-2102 : Electronics">
            <a:extLst>
              <a:ext uri="{FF2B5EF4-FFF2-40B4-BE49-F238E27FC236}">
                <a16:creationId xmlns:a16="http://schemas.microsoft.com/office/drawing/2014/main" id="{0A48CF47-CE26-78BA-F050-DF0CEF1CAB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9952" y="3931092"/>
            <a:ext cx="2236991" cy="1800724"/>
          </a:xfrm>
          <a:prstGeom prst="rect">
            <a:avLst/>
          </a:prstGeom>
        </p:spPr>
      </p:pic>
      <p:pic>
        <p:nvPicPr>
          <p:cNvPr id="10" name="Picture 9" descr="Amazon.com: Taiss/AB 2 phase Incremental Rotary Encoder 360P/R DC 5-24v  Wide Voltage Power Supply 6mm Shaft 360P/R : Industrial &amp; Scientific">
            <a:extLst>
              <a:ext uri="{FF2B5EF4-FFF2-40B4-BE49-F238E27FC236}">
                <a16:creationId xmlns:a16="http://schemas.microsoft.com/office/drawing/2014/main" id="{AA8BC0F4-4B2D-328A-7D38-A3F6836FBD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8967" y="4466677"/>
            <a:ext cx="2194644" cy="2194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62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5AE20-9E6A-BE17-E493-CFEF62ACA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FFC26-0F1B-13DC-BFCC-4CCF47E61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A080B-F3EF-820E-586B-8F585868C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539480" cy="4351338"/>
          </a:xfrm>
        </p:spPr>
        <p:txBody>
          <a:bodyPr/>
          <a:lstStyle/>
          <a:p>
            <a:r>
              <a:rPr lang="en-US" dirty="0"/>
              <a:t>WAGO lever-lock connectors</a:t>
            </a:r>
          </a:p>
          <a:p>
            <a:r>
              <a:rPr lang="en-US" dirty="0"/>
              <a:t>Breadboard</a:t>
            </a:r>
          </a:p>
          <a:p>
            <a:r>
              <a:rPr lang="en-US" dirty="0"/>
              <a:t>30V-10A power supply</a:t>
            </a:r>
          </a:p>
          <a:p>
            <a:r>
              <a:rPr lang="en-US" dirty="0"/>
              <a:t>Enable/disable switch</a:t>
            </a:r>
          </a:p>
          <a:p>
            <a:r>
              <a:rPr lang="en-US" dirty="0"/>
              <a:t>Potentiometer</a:t>
            </a:r>
          </a:p>
          <a:p>
            <a:r>
              <a:rPr lang="en-US" dirty="0"/>
              <a:t>C-clamp</a:t>
            </a:r>
          </a:p>
          <a:p>
            <a:endParaRPr lang="en-US" dirty="0"/>
          </a:p>
        </p:txBody>
      </p:sp>
      <p:pic>
        <p:nvPicPr>
          <p:cNvPr id="7" name="Picture 6" descr="Amazon.com: 221-413 | WAGO Lever-Nuts® Splicing Connector | for Solid and  Stranded Conductors | 3-Conductor with Operating levers | 24-12 AWG |  Transparent housing | [Box of 50 Pieces] : Industrial &amp; Scientific">
            <a:extLst>
              <a:ext uri="{FF2B5EF4-FFF2-40B4-BE49-F238E27FC236}">
                <a16:creationId xmlns:a16="http://schemas.microsoft.com/office/drawing/2014/main" id="{27721529-6FEC-C38A-16C0-FFC8FC453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772" y="1333335"/>
            <a:ext cx="2937805" cy="2937805"/>
          </a:xfrm>
          <a:prstGeom prst="rect">
            <a:avLst/>
          </a:prstGeom>
        </p:spPr>
      </p:pic>
      <p:pic>
        <p:nvPicPr>
          <p:cNvPr id="8" name="Picture 7" descr="BESSEY CM Series 6 in. Capacity Drop Forged C-Clamp with 3-1/2 in. Throat  Depth CM60 - The Home Depot">
            <a:extLst>
              <a:ext uri="{FF2B5EF4-FFF2-40B4-BE49-F238E27FC236}">
                <a16:creationId xmlns:a16="http://schemas.microsoft.com/office/drawing/2014/main" id="{A22E187F-DCDF-3851-235C-20BFF81804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8721" y="3969406"/>
            <a:ext cx="2342494" cy="2342494"/>
          </a:xfrm>
          <a:prstGeom prst="rect">
            <a:avLst/>
          </a:prstGeom>
        </p:spPr>
      </p:pic>
      <p:pic>
        <p:nvPicPr>
          <p:cNvPr id="11" name="Picture 10" descr="Amazon.com: PACUM Variable DC Power Supply Adjustable DC Power Supply 30V  10A 60V5A Lab Bench Power Supply Laboratory Stabilized Power Supply Voltage  Regulator Switch Power Supply Adjustable(Red Display 30V10A) : Industrial &amp;">
            <a:extLst>
              <a:ext uri="{FF2B5EF4-FFF2-40B4-BE49-F238E27FC236}">
                <a16:creationId xmlns:a16="http://schemas.microsoft.com/office/drawing/2014/main" id="{3D063BBA-B3C1-78AC-1DEC-5D25B33108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797" y="3429000"/>
            <a:ext cx="3168869" cy="31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174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C7FBD-24C9-AD13-5634-7199C323C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Operational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C9093-4C7A-9871-410D-67C230E4A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PWM frequency: 20kHz</a:t>
            </a:r>
          </a:p>
          <a:p>
            <a:r>
              <a:rPr lang="en-US" dirty="0"/>
              <a:t>PID Control loop: 1kHz</a:t>
            </a:r>
          </a:p>
          <a:p>
            <a:r>
              <a:rPr lang="en-US" dirty="0"/>
              <a:t>PD controller gains (did not spend a lot of time tuning)</a:t>
            </a:r>
          </a:p>
          <a:p>
            <a:pPr lvl="1"/>
            <a:r>
              <a:rPr lang="en-US" dirty="0" err="1"/>
              <a:t>Kp</a:t>
            </a:r>
            <a:r>
              <a:rPr lang="en-US" dirty="0"/>
              <a:t> = 0.6</a:t>
            </a:r>
          </a:p>
          <a:p>
            <a:pPr lvl="1"/>
            <a:r>
              <a:rPr lang="en-US" dirty="0" err="1"/>
              <a:t>Kd</a:t>
            </a:r>
            <a:r>
              <a:rPr lang="en-US" dirty="0"/>
              <a:t> = 0.025</a:t>
            </a:r>
          </a:p>
          <a:p>
            <a:r>
              <a:rPr lang="en-US" dirty="0"/>
              <a:t>User control input frequency: 100Hz</a:t>
            </a:r>
          </a:p>
          <a:p>
            <a:r>
              <a:rPr lang="en-US" dirty="0"/>
              <a:t>Data logging frequency: 10Hz</a:t>
            </a:r>
          </a:p>
        </p:txBody>
      </p:sp>
    </p:spTree>
    <p:extLst>
      <p:ext uri="{BB962C8B-B14F-4D97-AF65-F5344CB8AC3E}">
        <p14:creationId xmlns:p14="http://schemas.microsoft.com/office/powerpoint/2010/main" val="2984751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50BDA-8E92-6887-98BA-6938AB3BC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5D4C6-D5C7-2FEE-EF60-1E58498A1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C1B0E-9015-F493-416C-324919940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Main Control task runs on ESP32 CORE 1 with priority 1</a:t>
            </a:r>
          </a:p>
          <a:p>
            <a:endParaRPr lang="en-US" dirty="0"/>
          </a:p>
          <a:p>
            <a:r>
              <a:rPr lang="en-US" dirty="0"/>
              <a:t>User Input control task runs on ESP32 CORE 0 with priority 1</a:t>
            </a:r>
          </a:p>
          <a:p>
            <a:r>
              <a:rPr lang="en-US" dirty="0"/>
              <a:t>Data logging loop task runs on ESP32 CORE 0 with priority 2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Data is shared between cores and tasks using global buffers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dirty="0"/>
              <a:t>See video overview for more in-depth information</a:t>
            </a:r>
          </a:p>
        </p:txBody>
      </p:sp>
    </p:spTree>
    <p:extLst>
      <p:ext uri="{BB962C8B-B14F-4D97-AF65-F5344CB8AC3E}">
        <p14:creationId xmlns:p14="http://schemas.microsoft.com/office/powerpoint/2010/main" val="27657213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1028</TotalTime>
  <Words>435</Words>
  <Application>Microsoft Office PowerPoint</Application>
  <PresentationFormat>Widescreen</PresentationFormat>
  <Paragraphs>71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Real-Time Position and Velocity Control of a Brushless DC Motor</vt:lpstr>
      <vt:lpstr>Team</vt:lpstr>
      <vt:lpstr>Project Overview</vt:lpstr>
      <vt:lpstr>Requirements</vt:lpstr>
      <vt:lpstr>Requirements</vt:lpstr>
      <vt:lpstr>Requirements Cont’d</vt:lpstr>
      <vt:lpstr>Requirements Cont’d</vt:lpstr>
      <vt:lpstr>Final System</vt:lpstr>
      <vt:lpstr>Final System (labeled)</vt:lpstr>
      <vt:lpstr>Core Components</vt:lpstr>
      <vt:lpstr>Additional Components</vt:lpstr>
      <vt:lpstr>Operational Parameters</vt:lpstr>
      <vt:lpstr>Software 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Romeo Gabriel Perlstein</dc:creator>
  <cp:lastModifiedBy>Romeo Gabriel Perlstein</cp:lastModifiedBy>
  <cp:revision>10</cp:revision>
  <dcterms:created xsi:type="dcterms:W3CDTF">2026-05-10T15:53:36Z</dcterms:created>
  <dcterms:modified xsi:type="dcterms:W3CDTF">2026-05-12T03:53:51Z</dcterms:modified>
</cp:coreProperties>
</file>